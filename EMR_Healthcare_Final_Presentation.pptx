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21792" cy="685800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EMR HEALTHCARE</a:t>
            </a:r>
            <a:br/>
            <a:r>
              <a:t>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1460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ADE1DC"/>
                </a:solidFill>
                <a:latin typeface="Aptos"/>
              </a:defRPr>
            </a:pPr>
            <a:r>
              <a:t>SQL • Excel • Tableau •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06908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4069080"/>
            <a:ext cx="73152" cy="123444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42062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498848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06908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08960" y="4069080"/>
            <a:ext cx="73152" cy="123444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42062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4498848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10K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06908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0" y="4069080"/>
            <a:ext cx="73152" cy="123444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42062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DOCTORS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4498848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06908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0" y="4069080"/>
            <a:ext cx="73152" cy="1234440"/>
          </a:xfrm>
          <a:prstGeom prst="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33488" y="42062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SUCCESS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4498848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33.01%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06908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4069080"/>
            <a:ext cx="73152" cy="1234440"/>
          </a:xfrm>
          <a:prstGeom prst="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45168" y="42062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4498848"/>
            <a:ext cx="14630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25.41M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8064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CE1"/>
                </a:solidFill>
                <a:latin typeface="Aptos"/>
              </a:defRPr>
            </a:pPr>
            <a:r>
              <a:t>Final Presentation | Executive Overview &amp; Patient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A complete analytics workflow from raw healthcare records to decision-ready dashboards.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14300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572768"/>
            <a:ext cx="1737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659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Displayed portfolio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8920" y="1143000"/>
            <a:ext cx="73152" cy="1143000"/>
          </a:xfrm>
          <a:prstGeom prst="rect">
            <a:avLst/>
          </a:prstGeom>
          <a:solidFill>
            <a:srgbClr val="30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0088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1572768"/>
            <a:ext cx="1737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19659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Visit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83480" y="1143000"/>
            <a:ext cx="73152" cy="1143000"/>
          </a:xfrm>
          <a:prstGeom prst="rect">
            <a:avLst/>
          </a:prstGeom>
          <a:solidFill>
            <a:srgbClr val="6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8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DOCTORS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1572768"/>
            <a:ext cx="1737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19659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Provider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78040" y="1143000"/>
            <a:ext cx="73152" cy="1143000"/>
          </a:xfrm>
          <a:prstGeom prst="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9208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SUCCESS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1572768"/>
            <a:ext cx="1737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33.01%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19659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Treatment KPI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11430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72600" y="1143000"/>
            <a:ext cx="73152" cy="1143000"/>
          </a:xfrm>
          <a:prstGeom prst="rect">
            <a:avLst/>
          </a:prstGeom>
          <a:solidFill>
            <a:srgbClr val="B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73768" y="12801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8" y="1572768"/>
            <a:ext cx="1737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$25.41M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8" y="19659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Amount billed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2697480"/>
            <a:ext cx="1417320" cy="310896"/>
          </a:xfrm>
          <a:prstGeom prst="round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2729484"/>
            <a:ext cx="11978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t>PROJECT 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127248"/>
            <a:ext cx="6583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• Integrated SQL-based data preparation with Excel/Tableau/Power BI visualization.</a:t>
            </a:r>
          </a:p>
          <a:p>
            <a:pPr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• Built executive KPIs for patients, visits, treatment outcomes, chronic conditions and revenue.</a:t>
            </a:r>
          </a:p>
          <a:p>
            <a:pPr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• Added patient-level analytics for diagnosis, allergy, gender, state and insurance-provider views.</a:t>
            </a:r>
          </a:p>
          <a:p>
            <a:pPr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• Used interactive filters to support department, gender, date, specialist and treatment-status analysis.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Project Objectives &amp; Business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508760"/>
            <a:ext cx="502920" cy="502920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139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087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2"/>
                </a:solidFill>
                <a:latin typeface="Aptos Display"/>
              </a:defRPr>
            </a:pPr>
            <a:r>
              <a:t>Measure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47672"/>
            <a:ext cx="244650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How many patients, visits,</a:t>
            </a:r>
            <a:endParaRPr lang="en-IN" dirty="0"/>
          </a:p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 doctors and tests are represented?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720" y="1508760"/>
            <a:ext cx="502920" cy="502920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139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5087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2"/>
                </a:solidFill>
                <a:latin typeface="Aptos Display"/>
              </a:defRPr>
            </a:pPr>
            <a:r>
              <a:t>Understand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947672"/>
            <a:ext cx="262283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What diagnoses, chronic conditions,</a:t>
            </a:r>
            <a:endParaRPr lang="en-IN" dirty="0"/>
          </a:p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 allergies and gender patterns appear?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1508760"/>
            <a:ext cx="502920" cy="502920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6139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5087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2"/>
                </a:solidFill>
                <a:latin typeface="Aptos Display"/>
              </a:defRPr>
            </a:pPr>
            <a:r>
              <a:t>Monitor treatment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47672"/>
            <a:ext cx="2496196" cy="62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How are treatment outcomes</a:t>
            </a:r>
            <a:endParaRPr lang="en-IN" dirty="0"/>
          </a:p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 distributed and what is the success </a:t>
            </a:r>
            <a:endParaRPr lang="en-IN" dirty="0"/>
          </a:p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rate?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59" y="3657600"/>
            <a:ext cx="502920" cy="502920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76275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576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2"/>
                </a:solidFill>
                <a:latin typeface="Aptos Display"/>
              </a:defRPr>
            </a:pPr>
            <a:r>
              <a:t>Analyze claims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96511"/>
            <a:ext cx="265810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How many claims are approved,</a:t>
            </a:r>
            <a:endParaRPr lang="en-IN" dirty="0"/>
          </a:p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 pending, partially approved or denied?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17720" y="3657600"/>
            <a:ext cx="502920" cy="502920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376275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6576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2"/>
                </a:solidFill>
                <a:latin typeface="Aptos Display"/>
              </a:defRPr>
            </a:pPr>
            <a:r>
              <a:t>Understand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096511"/>
            <a:ext cx="236795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Which departments/specialties </a:t>
            </a:r>
            <a:endParaRPr lang="en-IN" dirty="0"/>
          </a:p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contribute most to billed revenue?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2480" y="3657600"/>
            <a:ext cx="502920" cy="502920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376275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6576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2"/>
                </a:solidFill>
                <a:latin typeface="Aptos Display"/>
              </a:defRPr>
            </a:pPr>
            <a:r>
              <a:t>Track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096511"/>
            <a:ext cx="214033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How does visit volume change </a:t>
            </a:r>
            <a:endParaRPr lang="en-IN" dirty="0"/>
          </a:p>
          <a:p>
            <a:pPr>
              <a:defRPr sz="1150">
                <a:solidFill>
                  <a:srgbClr val="232D34"/>
                </a:solidFill>
                <a:latin typeface="Aptos"/>
              </a:defRPr>
            </a:pPr>
            <a:r>
              <a:rPr dirty="0"/>
              <a:t>month-to-month?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Data Model &amp; KPI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Recommended analytical structure for the SQL-to-dashboard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965960" cy="5029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SOURCE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1645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ptos"/>
              </a:defRPr>
            </a:pPr>
            <a:r>
              <a:t>Patient / Visit</a:t>
            </a:r>
            <a:br/>
            <a:r>
              <a:t>Doctor / Department</a:t>
            </a:r>
            <a:br/>
            <a:r>
              <a:t>Claims / Treatment</a:t>
            </a:r>
            <a:br/>
            <a:r>
              <a:t>Billing / Lab</a:t>
            </a:r>
          </a:p>
        </p:txBody>
      </p:sp>
      <p:sp>
        <p:nvSpPr>
          <p:cNvPr id="10" name="Chevron 9"/>
          <p:cNvSpPr/>
          <p:nvPr/>
        </p:nvSpPr>
        <p:spPr>
          <a:xfrm>
            <a:off x="2487168" y="2121408"/>
            <a:ext cx="320040" cy="502920"/>
          </a:xfrm>
          <a:prstGeom prst="chevron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34639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417320"/>
            <a:ext cx="1965960" cy="50292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79" y="153619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SQL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103120"/>
            <a:ext cx="1645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ptos"/>
              </a:defRPr>
            </a:pPr>
            <a:r>
              <a:t>Cleaning</a:t>
            </a:r>
            <a:br/>
            <a:r>
              <a:t>Joins</a:t>
            </a:r>
            <a:br/>
            <a:r>
              <a:t>Aggregations</a:t>
            </a:r>
            <a:br/>
            <a:r>
              <a:t>KPI calculations</a:t>
            </a:r>
          </a:p>
        </p:txBody>
      </p:sp>
      <p:sp>
        <p:nvSpPr>
          <p:cNvPr id="15" name="Chevron 14"/>
          <p:cNvSpPr/>
          <p:nvPr/>
        </p:nvSpPr>
        <p:spPr>
          <a:xfrm>
            <a:off x="4818888" y="2121408"/>
            <a:ext cx="320040" cy="502920"/>
          </a:xfrm>
          <a:prstGeom prst="chevron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66359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417320"/>
            <a:ext cx="1965960" cy="502920"/>
          </a:xfrm>
          <a:prstGeom prst="rect">
            <a:avLst/>
          </a:prstGeom>
          <a:solidFill>
            <a:srgbClr val="30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799" y="153619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ANALYTICAL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2103120"/>
            <a:ext cx="1645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ptos"/>
              </a:defRPr>
            </a:pPr>
            <a:r>
              <a:t>Fact Visit</a:t>
            </a:r>
            <a:br/>
            <a:r>
              <a:t>Fact Claim</a:t>
            </a:r>
            <a:br/>
            <a:r>
              <a:t>Fact Treatment</a:t>
            </a:r>
            <a:br/>
            <a:r>
              <a:t>Dimensions</a:t>
            </a:r>
          </a:p>
        </p:txBody>
      </p:sp>
      <p:sp>
        <p:nvSpPr>
          <p:cNvPr id="20" name="Chevron 19"/>
          <p:cNvSpPr/>
          <p:nvPr/>
        </p:nvSpPr>
        <p:spPr>
          <a:xfrm>
            <a:off x="7150607" y="2121408"/>
            <a:ext cx="320040" cy="502920"/>
          </a:xfrm>
          <a:prstGeom prst="chevron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98079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417320"/>
            <a:ext cx="1965960" cy="502920"/>
          </a:xfrm>
          <a:prstGeom prst="rect">
            <a:avLst/>
          </a:prstGeom>
          <a:solidFill>
            <a:srgbClr val="6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19" y="153619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2103120"/>
            <a:ext cx="1645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ptos"/>
              </a:defRPr>
            </a:pPr>
            <a:r>
              <a:t>Excel / Tableau</a:t>
            </a:r>
            <a:br/>
            <a:r>
              <a:t>Power BI</a:t>
            </a:r>
            <a:br/>
            <a:r>
              <a:t>Interactive filters</a:t>
            </a:r>
          </a:p>
        </p:txBody>
      </p:sp>
      <p:sp>
        <p:nvSpPr>
          <p:cNvPr id="25" name="Chevron 24"/>
          <p:cNvSpPr/>
          <p:nvPr/>
        </p:nvSpPr>
        <p:spPr>
          <a:xfrm>
            <a:off x="9482328" y="2121408"/>
            <a:ext cx="320040" cy="502920"/>
          </a:xfrm>
          <a:prstGeom prst="chevron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29800" y="141732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417320"/>
            <a:ext cx="1965960" cy="502920"/>
          </a:xfrm>
          <a:prstGeom prst="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21240" y="1536192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DECISION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2103120"/>
            <a:ext cx="1645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ptos"/>
              </a:defRPr>
            </a:pPr>
            <a:r>
              <a:t>Executive KPIs</a:t>
            </a:r>
            <a:br/>
            <a:r>
              <a:t>Patient insights</a:t>
            </a:r>
            <a:br/>
            <a:r>
              <a:t>Operational trends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86200"/>
            <a:ext cx="1051560" cy="310896"/>
          </a:xfrm>
          <a:prstGeom prst="round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3918204"/>
            <a:ext cx="832103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t>CORE KPIS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B42"/>
                </a:solidFill>
                <a:latin typeface="Aptos"/>
              </a:defRPr>
            </a:pPr>
            <a:r>
              <a:t>Total Patients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343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7070"/>
                </a:solidFill>
                <a:latin typeface="Aptos Display"/>
              </a:defRPr>
            </a:pPr>
            <a:r>
              <a:t>10K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Consolas"/>
              </a:defRPr>
            </a:pPr>
            <a:r>
              <a:t>COUNT(DISTINCT Patient_ID)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3434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B42"/>
                </a:solidFill>
                <a:latin typeface="Aptos"/>
              </a:defRPr>
            </a:pPr>
            <a:r>
              <a:t>Total Visits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4343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7070"/>
                </a:solidFill>
                <a:latin typeface="Aptos Display"/>
              </a:defRPr>
            </a:pPr>
            <a:r>
              <a:t>10K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6634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Consolas"/>
              </a:defRPr>
            </a:pPr>
            <a:r>
              <a:t>COUNT(DISTINCT Visit_ID)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3434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B42"/>
                </a:solidFill>
                <a:latin typeface="Aptos"/>
              </a:defRPr>
            </a:pPr>
            <a:r>
              <a:t>Success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3434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7070"/>
                </a:solidFill>
                <a:latin typeface="Aptos Display"/>
              </a:defRPr>
            </a:pPr>
            <a:r>
              <a:t>33.01%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66344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Consolas"/>
              </a:defRPr>
            </a:pPr>
            <a:r>
              <a:t>Successful Treatments / Total Treatments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212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B42"/>
                </a:solidFill>
                <a:latin typeface="Aptos"/>
              </a:defRPr>
            </a:pPr>
            <a:r>
              <a:t>Completion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212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7070"/>
                </a:solidFill>
                <a:latin typeface="Aptos Display"/>
              </a:defRPr>
            </a:pPr>
            <a:r>
              <a:t>66.49%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532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Consolas"/>
              </a:defRPr>
            </a:pPr>
            <a:r>
              <a:t>Completed / Total Treatment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212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B42"/>
                </a:solidFill>
                <a:latin typeface="Aptos"/>
              </a:defRPr>
            </a:pPr>
            <a:r>
              <a:t>Chronic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5212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7070"/>
                </a:solidFill>
                <a:latin typeface="Aptos Display"/>
              </a:defRPr>
            </a:pPr>
            <a:r>
              <a:t>80.35%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532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Consolas"/>
              </a:defRPr>
            </a:pPr>
            <a:r>
              <a:t>Chronic Patients / Total Patients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5212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2B42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212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7070"/>
                </a:solidFill>
                <a:latin typeface="Aptos Display"/>
              </a:defRPr>
            </a:pPr>
            <a:r>
              <a:t>$25.41M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55321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Consolas"/>
              </a:defRPr>
            </a:pPr>
            <a:r>
              <a:t>SUM(Amount Billed)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SQL Data Preparation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Use SQL as the reproducible analytical layer before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707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t>Check row counts, nulls, duplicates and distinct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41732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707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0574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87168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t>Standardize dates, categories, statuses and missing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41732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707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574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487168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t>Connect patient, visit, provider, department, claim and treatment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1732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7070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574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87168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t>Create monthly, department, diagnosis and status summaries.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1417320"/>
            <a:ext cx="187451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7070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0574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487168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t>Reconcile SQL totals with dashboard KPI cards.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SQL Examples — Core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Illustrative templates: replace table/column names with those in your actual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960120" cy="310896"/>
          </a:xfrm>
          <a:prstGeom prst="round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175004"/>
            <a:ext cx="7406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t>QUERY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440680" cy="2057400"/>
          </a:xfrm>
          <a:prstGeom prst="roundRect">
            <a:avLst/>
          </a:prstGeom>
          <a:solidFill>
            <a:srgbClr val="181F27"/>
          </a:solidFill>
          <a:ln>
            <a:solidFill>
              <a:srgbClr val="34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18488"/>
            <a:ext cx="5111496" cy="18562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E1EBF0"/>
                </a:solidFill>
                <a:latin typeface="Consolas"/>
              </a:defRPr>
            </a:pPr>
            <a:r>
              <a:t>-- 1. Core patient / visit KPIs</a:t>
            </a:r>
            <a:br/>
            <a:r>
              <a:t>SELECT</a:t>
            </a:r>
            <a:br/>
            <a:r>
              <a:t>    COUNT(DISTINCT patient_id) AS total_patients,</a:t>
            </a:r>
            <a:br/>
            <a:r>
              <a:t>    COUNT(DISTINCT visit_id)   AS total_visits,</a:t>
            </a:r>
            <a:br/>
            <a:r>
              <a:t>    COUNT(DISTINCT doctor_id)  AS total_doctors</a:t>
            </a:r>
            <a:br/>
            <a:r>
              <a:t>FROM emr_visits;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960120" cy="310896"/>
          </a:xfrm>
          <a:prstGeom prst="roundRect">
            <a:avLst/>
          </a:prstGeom>
          <a:solidFill>
            <a:srgbClr val="6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175004"/>
            <a:ext cx="7406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t>QUERY 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166360" cy="2057400"/>
          </a:xfrm>
          <a:prstGeom prst="roundRect">
            <a:avLst/>
          </a:prstGeom>
          <a:solidFill>
            <a:srgbClr val="181F27"/>
          </a:solidFill>
          <a:ln>
            <a:solidFill>
              <a:srgbClr val="34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618488"/>
            <a:ext cx="4837176" cy="18562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E1EBF0"/>
                </a:solidFill>
                <a:latin typeface="Consolas"/>
              </a:defRPr>
            </a:pPr>
            <a:r>
              <a:t>-- 2. Treatment success &amp; completion</a:t>
            </a:r>
            <a:br/>
            <a:r>
              <a:t>SELECT</a:t>
            </a:r>
            <a:br/>
            <a:r>
              <a:t>    100.0 * SUM(CASE WHEN treatment_status = 'Successful' THEN 1 ELSE 0 END)</a:t>
            </a:r>
            <a:br/>
            <a:r>
              <a:t>          / COUNT(*) AS success_rate,</a:t>
            </a:r>
            <a:br/>
            <a:r>
              <a:t>    100.0 * SUM(CASE WHEN treatment_status = 'Completed' THEN 1 ELSE 0 END)</a:t>
            </a:r>
            <a:br/>
            <a:r>
              <a:t>          / COUNT(*) AS completion_rate</a:t>
            </a:r>
            <a:br/>
            <a:r>
              <a:t>FROM emr_treatments;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73152" cy="114300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DASHBOARD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407407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0060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Total patients shown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77639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977639"/>
            <a:ext cx="73152" cy="1143000"/>
          </a:xfrm>
          <a:prstGeom prst="rect">
            <a:avLst/>
          </a:prstGeom>
          <a:solidFill>
            <a:srgbClr val="30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DASHBOARD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407407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80060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Total visits shown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977639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1000" y="3977639"/>
            <a:ext cx="73152" cy="1143000"/>
          </a:xfrm>
          <a:prstGeom prst="rect">
            <a:avLst/>
          </a:prstGeom>
          <a:solidFill>
            <a:srgbClr val="6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4114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DASHBOARD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4407407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33.01%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4800600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Treatment success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SQL Examples — Claims, Revenue &amp;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20440" cy="1874519"/>
          </a:xfrm>
          <a:prstGeom prst="roundRect">
            <a:avLst/>
          </a:prstGeom>
          <a:solidFill>
            <a:srgbClr val="181F27"/>
          </a:solidFill>
          <a:ln>
            <a:solidFill>
              <a:srgbClr val="34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3191256" cy="16733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E1EBF0"/>
                </a:solidFill>
                <a:latin typeface="Consolas"/>
              </a:defRPr>
            </a:pPr>
            <a:r>
              <a:t>-- Claims status distribution</a:t>
            </a:r>
            <a:br/>
            <a:r>
              <a:t>SELECT claim_status,</a:t>
            </a:r>
            <a:br/>
            <a:r>
              <a:t>       COUNT(*) AS patient_count</a:t>
            </a:r>
            <a:br/>
            <a:r>
              <a:t>FROM insurance_claims</a:t>
            </a:r>
            <a:br/>
            <a:r>
              <a:t>GROUP BY claim_status</a:t>
            </a:r>
            <a:br/>
            <a:r>
              <a:t>ORDER BY patient_count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181F27"/>
          </a:solidFill>
          <a:ln>
            <a:solidFill>
              <a:srgbClr val="34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435607"/>
            <a:ext cx="3191256" cy="16733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E1EBF0"/>
                </a:solidFill>
                <a:latin typeface="Consolas"/>
              </a:defRPr>
            </a:pPr>
            <a:r>
              <a:t>-- Revenue by department</a:t>
            </a:r>
            <a:br/>
            <a:r>
              <a:t>SELECT department_name,</a:t>
            </a:r>
            <a:br/>
            <a:r>
              <a:t>       SUM(amount_billed) AS revenue</a:t>
            </a:r>
            <a:br/>
            <a:r>
              <a:t>FROM billing</a:t>
            </a:r>
            <a:br/>
            <a:r>
              <a:t>GROUP BY department_name</a:t>
            </a:r>
            <a:br/>
            <a:r>
              <a:t>ORDER BY revenue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325880"/>
            <a:ext cx="3520440" cy="1874519"/>
          </a:xfrm>
          <a:prstGeom prst="roundRect">
            <a:avLst/>
          </a:prstGeom>
          <a:solidFill>
            <a:srgbClr val="181F27"/>
          </a:solidFill>
          <a:ln>
            <a:solidFill>
              <a:srgbClr val="34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65592" y="1435607"/>
            <a:ext cx="3191256" cy="16733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50">
                <a:solidFill>
                  <a:srgbClr val="E1EBF0"/>
                </a:solidFill>
                <a:latin typeface="Consolas"/>
              </a:defRPr>
            </a:pPr>
            <a:r>
              <a:t>-- Monthly visit trend</a:t>
            </a:r>
            <a:br/>
            <a:r>
              <a:t>SELECT EXTRACT(YEAR FROM visit_date) AS yr,</a:t>
            </a:r>
            <a:br/>
            <a:r>
              <a:t>       EXTRACT(MONTH FROM visit_date) AS mn,</a:t>
            </a:r>
            <a:br/>
            <a:r>
              <a:t>       COUNT(DISTINCT visit_id) AS visits</a:t>
            </a:r>
            <a:br/>
            <a:r>
              <a:t>FROM emr_visits</a:t>
            </a:r>
            <a:br/>
            <a:r>
              <a:t>GROUP BY 1,2</a:t>
            </a:r>
            <a:br/>
            <a:r>
              <a:t>ORDER BY 1,2;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703320"/>
            <a:ext cx="73152" cy="114300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840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APPROVED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133087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6,075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262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Largest claim-status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3703320"/>
            <a:ext cx="73152" cy="1143000"/>
          </a:xfrm>
          <a:prstGeom prst="rect">
            <a:avLst/>
          </a:prstGeom>
          <a:solidFill>
            <a:srgbClr val="6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3840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PENDING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4133087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1,211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45262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Claim workflow 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3703320"/>
            <a:ext cx="73152" cy="1143000"/>
          </a:xfrm>
          <a:prstGeom prst="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81928" y="3840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133087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$25.41M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5262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Total amount shown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0" y="3703320"/>
            <a:ext cx="73152" cy="1143000"/>
          </a:xfrm>
          <a:prstGeom prst="rect">
            <a:avLst/>
          </a:prstGeom>
          <a:solidFill>
            <a:srgbClr val="B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79408" y="3840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37A"/>
                </a:solidFill>
                <a:latin typeface="Aptos"/>
              </a:defRPr>
            </a:pPr>
            <a:r>
              <a:t>MONTHLY PEAK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4133087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B42"/>
                </a:solidFill>
                <a:latin typeface="Aptos Display"/>
              </a:defRPr>
            </a:pPr>
            <a:r>
              <a:t>~898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45262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Highest displayed monthly visits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Dashboard 1 — EMR Healthcare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Executive KPI and operational monitoring view.</a:t>
            </a:r>
          </a:p>
        </p:txBody>
      </p:sp>
      <p:pic>
        <p:nvPicPr>
          <p:cNvPr id="6" name="Picture 5" descr="1000379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88" y="1078992"/>
            <a:ext cx="9460463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78992"/>
            <a:ext cx="11201400" cy="5257800"/>
          </a:xfrm>
          <a:prstGeom prst="rect">
            <a:avLst/>
          </a:prstGeom>
          <a:noFill/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Dashboard 2 —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Alternative visual design showing visit type, claims, treatment status and diagnosis.</a:t>
            </a:r>
          </a:p>
        </p:txBody>
      </p:sp>
      <p:pic>
        <p:nvPicPr>
          <p:cNvPr id="6" name="Picture 5" descr="1000379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7084"/>
            <a:ext cx="11201400" cy="49216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78992"/>
            <a:ext cx="11201400" cy="5257800"/>
          </a:xfrm>
          <a:prstGeom prst="rect">
            <a:avLst/>
          </a:prstGeom>
          <a:noFill/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Dashboard 3 —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Power BI-style executive dashboard with KPI cards, diagnosis, revenue, geography and monthly trends.</a:t>
            </a:r>
          </a:p>
        </p:txBody>
      </p:sp>
      <p:pic>
        <p:nvPicPr>
          <p:cNvPr id="6" name="Picture 5" descr="1000379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416" y="1078992"/>
            <a:ext cx="8492408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78992"/>
            <a:ext cx="11201400" cy="5257800"/>
          </a:xfrm>
          <a:prstGeom prst="rect">
            <a:avLst/>
          </a:prstGeom>
          <a:noFill/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Dashboard 4 — Patient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Patient-focused view covering chronic conditions, allergies, gender, state and insurance-provider distribution.</a:t>
            </a:r>
          </a:p>
        </p:txBody>
      </p:sp>
      <p:pic>
        <p:nvPicPr>
          <p:cNvPr id="6" name="Picture 5" descr="1000379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91" y="1078992"/>
            <a:ext cx="8636458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78992"/>
            <a:ext cx="11201400" cy="5257800"/>
          </a:xfrm>
          <a:prstGeom prst="rect">
            <a:avLst/>
          </a:prstGeom>
          <a:noFill/>
          <a:ln w="12700"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Key Findings from the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Descriptive observations from the displayed dashboard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82296" cy="1325880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2"/>
                </a:solidFill>
                <a:latin typeface="Aptos Display"/>
              </a:defRPr>
            </a:pPr>
            <a:r>
              <a:t>Claim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09928"/>
            <a:ext cx="484459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Approved claims are the largest category at 6,075, followed by partially approved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 (1,790), pending (1,211) and denied (924).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82296" cy="1325880"/>
          </a:xfrm>
          <a:prstGeom prst="rect">
            <a:avLst/>
          </a:prstGeom>
          <a:solidFill>
            <a:srgbClr val="30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2"/>
                </a:solidFill>
                <a:latin typeface="Aptos Display"/>
              </a:defRPr>
            </a:pPr>
            <a: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9928"/>
            <a:ext cx="47548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t>The displayed treatment success rate is 33.01%, with a completion rate of 66.49%.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07208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807208"/>
            <a:ext cx="82296" cy="1325880"/>
          </a:xfrm>
          <a:prstGeom prst="rect">
            <a:avLst/>
          </a:prstGeom>
          <a:solidFill>
            <a:srgbClr val="6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2"/>
                </a:solidFill>
                <a:latin typeface="Aptos Display"/>
              </a:defRPr>
            </a:pPr>
            <a:r>
              <a:t>Diagnosis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82696"/>
            <a:ext cx="457048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The leading displayed diagnosis count is Migraine (2,039), followed by 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Hypertension (2,011), Asthma (2,009), Healthy (1,981) and Diabetes (1,960).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07208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807208"/>
            <a:ext cx="82296" cy="1325880"/>
          </a:xfrm>
          <a:prstGeom prst="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94436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2"/>
                </a:solidFill>
                <a:latin typeface="Aptos Display"/>
              </a:defRPr>
            </a:pPr>
            <a:r>
              <a:t>Visit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82696"/>
            <a:ext cx="453201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Specialist Consultation is the largest visit type at 25.59%; Emergency is the 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smallest displayed category at 24.38%.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79976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379976"/>
            <a:ext cx="82296" cy="1325880"/>
          </a:xfrm>
          <a:prstGeom prst="rect">
            <a:avLst/>
          </a:prstGeom>
          <a:solidFill>
            <a:srgbClr val="B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51713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2"/>
                </a:solidFill>
                <a:latin typeface="Aptos Display"/>
              </a:defRPr>
            </a:pPr>
            <a:r>
              <a:t>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55464"/>
            <a:ext cx="443903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Total billed revenue is shown as $25.41M. Department-level visuals show 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General Medicine and Cardiology as major revenue contributors.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79976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379976"/>
            <a:ext cx="82296" cy="132588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517136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B42"/>
                </a:solidFill>
                <a:latin typeface="Aptos Display"/>
              </a:defRPr>
            </a:pPr>
            <a:r>
              <a:t>Trend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55464"/>
            <a:ext cx="505138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Monthly visits fluctuate around the 800–900 range, with the highest 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displayed point around August (~898) and another high point around October (~892).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Dashboard Design &amp; Interactivity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9737A"/>
                </a:solidFill>
                <a:latin typeface="Aptos"/>
              </a:defRPr>
            </a:pPr>
            <a:r>
              <a:t>Designed to move from high-level KPIs to drill-down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463039"/>
            <a:ext cx="1874519" cy="548640"/>
          </a:xfrm>
          <a:prstGeom prst="round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18488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EXECUTIVE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508760"/>
            <a:ext cx="7909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4"/>
                </a:solidFill>
                <a:latin typeface="Aptos"/>
              </a:defRPr>
            </a:pPr>
            <a:r>
              <a:t>KPI cards: Patients • Visits • Doctors • Success • Completion • Chronic •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41448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2578608"/>
            <a:ext cx="1874519" cy="548640"/>
          </a:xfrm>
          <a:prstGeom prst="roundRect">
            <a:avLst/>
          </a:prstGeom>
          <a:solidFill>
            <a:srgbClr val="64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734056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ANALYTICAL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24328"/>
            <a:ext cx="7909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4"/>
                </a:solidFill>
                <a:latin typeface="Aptos"/>
              </a:defRPr>
            </a:pPr>
            <a:r>
              <a:t>Diagnosis • Treatment outcomes • Claim status • Revenue by department • Visit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57015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3694176"/>
            <a:ext cx="1874519" cy="548640"/>
          </a:xfrm>
          <a:prstGeom prst="roundRect">
            <a:avLst/>
          </a:prstGeom>
          <a:solidFill>
            <a:srgbClr val="30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849624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FILTER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39896"/>
            <a:ext cx="7909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4"/>
                </a:solidFill>
                <a:latin typeface="Aptos"/>
              </a:defRPr>
            </a:pPr>
            <a:r>
              <a:t>Department • Gender • Date • Specialist • Treatment status • State • Test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72584"/>
            <a:ext cx="10652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0120" y="4809744"/>
            <a:ext cx="1874519" cy="548640"/>
          </a:xfrm>
          <a:prstGeom prst="roundRect">
            <a:avLst/>
          </a:prstGeom>
          <a:solidFill>
            <a:srgbClr val="DAA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965192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DETAIL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855464"/>
            <a:ext cx="7909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4"/>
                </a:solidFill>
                <a:latin typeface="Aptos"/>
              </a:defRPr>
            </a:pPr>
            <a:r>
              <a:t>Patient attributes • Allergies • Chronic conditions • Insurance provider • Monthly activity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2"/>
                </a:solidFill>
                <a:latin typeface="Aptos Display"/>
              </a:defRPr>
            </a:pPr>
            <a:r>
              <a:t>Data Quality &amp; Validation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1" y="1399032"/>
            <a:ext cx="438912" cy="438912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961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990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 Display"/>
              </a:defRPr>
            </a:pPr>
            <a:r>
              <a:t>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264687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Check missing patient IDs, visit IDs, dates,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 departments and treatment statuses.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99432" y="1399032"/>
            <a:ext cx="438912" cy="438912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49961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13990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 Display"/>
              </a:defRPr>
            </a:pPr>
            <a:r>
              <a:t>Uniqueness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07007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Confirm patient/visit/claim identifiers and prevent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 duplicate joins.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94192" y="1399032"/>
            <a:ext cx="438912" cy="438912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49961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13990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 Display"/>
              </a:defRPr>
            </a:pPr>
            <a:r>
              <a:t>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34899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Standardize spelling/case for departments, diagnoses,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 claim status and outcomes.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Oval 20"/>
          <p:cNvSpPr/>
          <p:nvPr/>
        </p:nvSpPr>
        <p:spPr>
          <a:xfrm>
            <a:off x="804671" y="3502152"/>
            <a:ext cx="438912" cy="438912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60273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50215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 Display"/>
              </a:defRPr>
            </a:pPr>
            <a:r>
              <a:t>KPI reconciliation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023360"/>
            <a:ext cx="219964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SQL totals must reconcile with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 Excel/Tableau/Power BI KPI cards.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375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9432" y="3502152"/>
            <a:ext cx="438912" cy="438912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360273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50215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 Display"/>
              </a:defRPr>
            </a:pPr>
            <a:r>
              <a:t>Date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023360"/>
            <a:ext cx="312938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Use one consistent calendar definition for monthly 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trend calculations.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94192" y="3502152"/>
            <a:ext cx="438912" cy="438912"/>
          </a:xfrm>
          <a:prstGeom prst="ellipse">
            <a:avLst/>
          </a:prstGeom>
          <a:solidFill>
            <a:srgbClr val="11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60273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8" y="350215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B42"/>
                </a:solidFill>
                <a:latin typeface="Aptos Display"/>
              </a:defRPr>
            </a:pPr>
            <a:r>
              <a:t>Filter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23360"/>
            <a:ext cx="256031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Verify slicers affect every intended visual </a:t>
            </a:r>
            <a:endParaRPr lang="en-IN" dirty="0"/>
          </a:p>
          <a:p>
            <a:pPr>
              <a:defRPr sz="1050">
                <a:solidFill>
                  <a:srgbClr val="232D34"/>
                </a:solidFill>
                <a:latin typeface="Aptos"/>
              </a:defRPr>
            </a:pPr>
            <a:r>
              <a:rPr dirty="0"/>
              <a:t>and do not create conflicting totals.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556248"/>
            <a:ext cx="8961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37A"/>
                </a:solidFill>
                <a:latin typeface="Aptos"/>
              </a:defRPr>
            </a:pPr>
            <a:r>
              <a:t>EMR Healthcare Data Analytics | Final Project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2493" cy="10618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1EBEE"/>
                </a:solidFill>
                <a:latin typeface="Aptos"/>
              </a:defRPr>
            </a:pPr>
            <a:r>
              <a:rPr dirty="0"/>
              <a:t>The project demonstrates an end-to-end analytics workflow: SQL transforms the data, </a:t>
            </a:r>
            <a:endParaRPr lang="en-IN" dirty="0"/>
          </a:p>
          <a:p>
            <a:pPr>
              <a:defRPr sz="2100">
                <a:solidFill>
                  <a:srgbClr val="E1EBEE"/>
                </a:solidFill>
                <a:latin typeface="Aptos"/>
              </a:defRPr>
            </a:pPr>
            <a:r>
              <a:rPr dirty="0"/>
              <a:t>BI tools communicate the KPIs, and interactive dashboards make the analysis accessible </a:t>
            </a:r>
            <a:endParaRPr lang="en-IN" dirty="0"/>
          </a:p>
          <a:p>
            <a:pPr>
              <a:defRPr sz="2100">
                <a:solidFill>
                  <a:srgbClr val="E1EBEE"/>
                </a:solidFill>
                <a:latin typeface="Aptos"/>
              </a:defRPr>
            </a:pPr>
            <a:r>
              <a:rPr dirty="0"/>
              <a:t>to decision-makers.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2331720" cy="1508760"/>
          </a:xfrm>
          <a:prstGeom prst="roundRect">
            <a:avLst/>
          </a:prstGeom>
          <a:solidFill>
            <a:srgbClr val="20374D"/>
          </a:solidFill>
          <a:ln>
            <a:solidFill>
              <a:srgbClr val="11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218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7070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03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Structured healthcare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971800"/>
            <a:ext cx="2331720" cy="1508760"/>
          </a:xfrm>
          <a:prstGeom prst="roundRect">
            <a:avLst/>
          </a:prstGeom>
          <a:solidFill>
            <a:srgbClr val="20374D"/>
          </a:solidFill>
          <a:ln>
            <a:solidFill>
              <a:srgbClr val="307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3218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07055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703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Reproducible calculations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71800"/>
            <a:ext cx="2331720" cy="1508760"/>
          </a:xfrm>
          <a:prstGeom prst="roundRect">
            <a:avLst/>
          </a:prstGeom>
          <a:solidFill>
            <a:srgbClr val="20374D"/>
          </a:solidFill>
          <a:ln>
            <a:solidFill>
              <a:srgbClr val="64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218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44C97"/>
                </a:solidFill>
                <a:latin typeface="Aptos"/>
              </a:defRPr>
            </a:pPr>
            <a:r>
              <a:t>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03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Interactive visual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971800"/>
            <a:ext cx="2331720" cy="1508760"/>
          </a:xfrm>
          <a:prstGeom prst="roundRect">
            <a:avLst/>
          </a:prstGeom>
          <a:solidFill>
            <a:srgbClr val="20374D"/>
          </a:solidFill>
          <a:ln>
            <a:solidFill>
              <a:srgbClr val="DAA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20" y="321868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AA620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703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Clear operational 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13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1350</Words>
  <Application>Microsoft Office PowerPoint</Application>
  <PresentationFormat>Widescreen</PresentationFormat>
  <Paragraphs>240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athulya s babu</dc:creator>
  <cp:keywords/>
  <dc:description>generated using python-pptx</dc:description>
  <cp:lastModifiedBy>athulya s babu</cp:lastModifiedBy>
  <cp:revision>2</cp:revision>
  <dcterms:created xsi:type="dcterms:W3CDTF">2013-01-27T09:14:16Z</dcterms:created>
  <dcterms:modified xsi:type="dcterms:W3CDTF">2026-09-22T14:38:42Z</dcterms:modified>
  <cp:category/>
</cp:coreProperties>
</file>